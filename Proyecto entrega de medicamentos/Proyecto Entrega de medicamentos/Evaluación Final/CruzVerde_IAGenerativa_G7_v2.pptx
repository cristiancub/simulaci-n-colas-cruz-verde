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2" roundtripDataSignature="AMtx7mjH3xLKGgv5XkhqvQr84/H5c39+Z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8C37BCB-706B-4554-AACD-4653A4BFAE51}">
  <a:tblStyle styleId="{38C37BCB-706B-4554-AACD-4653A4BFAE51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2" Type="http://customschemas.google.com/relationships/presentationmetadata" Target="metadata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" name="Google Shape;3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" name="Google Shape;6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4" name="Google Shape;11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6" name="Google Shape;14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3" name="Google Shape;173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2A4A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D7377"/>
          </a:solidFill>
          <a:ln cap="flat" cmpd="sng" w="12700">
            <a:solidFill>
              <a:srgbClr val="0D73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548640" y="274320"/>
            <a:ext cx="164592" cy="164592"/>
          </a:xfrm>
          <a:prstGeom prst="ellipse">
            <a:avLst/>
          </a:prstGeom>
          <a:solidFill>
            <a:srgbClr val="E8B84B"/>
          </a:solidFill>
          <a:ln cap="flat" cmpd="sng" w="12700">
            <a:solidFill>
              <a:srgbClr val="E8B8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822960" y="274320"/>
            <a:ext cx="109728" cy="109728"/>
          </a:xfrm>
          <a:prstGeom prst="ellipse">
            <a:avLst/>
          </a:prstGeom>
          <a:solidFill>
            <a:srgbClr val="14A085"/>
          </a:solidFill>
          <a:ln cap="flat" cmpd="sng" w="12700">
            <a:solidFill>
              <a:srgbClr val="14A08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1"/>
          <p:cNvSpPr/>
          <p:nvPr/>
        </p:nvSpPr>
        <p:spPr>
          <a:xfrm>
            <a:off x="548640" y="548640"/>
            <a:ext cx="6217920" cy="2194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IA Generativa e Ingeniería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 Prompts aplicada a la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Simulación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548640" y="2880360"/>
            <a:ext cx="5943600" cy="45720"/>
          </a:xfrm>
          <a:prstGeom prst="rect">
            <a:avLst/>
          </a:prstGeom>
          <a:solidFill>
            <a:srgbClr val="0D7377"/>
          </a:solidFill>
          <a:ln cap="flat" cmpd="sng" w="12700">
            <a:solidFill>
              <a:srgbClr val="0D73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1"/>
          <p:cNvSpPr/>
          <p:nvPr/>
        </p:nvSpPr>
        <p:spPr>
          <a:xfrm>
            <a:off x="548640" y="2971800"/>
            <a:ext cx="5943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B84B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E8B84B"/>
                </a:solidFill>
                <a:latin typeface="Calibri"/>
                <a:ea typeface="Calibri"/>
                <a:cs typeface="Calibri"/>
                <a:sym typeface="Calibri"/>
              </a:rPr>
              <a:t>Farmacia Cruz Verde – Puente Aranda, Bogotá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7040880" y="274320"/>
            <a:ext cx="1828800" cy="4480560"/>
          </a:xfrm>
          <a:prstGeom prst="rect">
            <a:avLst/>
          </a:prstGeom>
          <a:solidFill>
            <a:srgbClr val="112238"/>
          </a:solidFill>
          <a:ln cap="flat" cmpd="sng" w="12700">
            <a:solidFill>
              <a:srgbClr val="0D737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1"/>
          <p:cNvSpPr/>
          <p:nvPr/>
        </p:nvSpPr>
        <p:spPr>
          <a:xfrm>
            <a:off x="7086600" y="457200"/>
            <a:ext cx="173736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2EAF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E2EAF4"/>
                </a:solidFill>
                <a:latin typeface="Calibri"/>
                <a:ea typeface="Calibri"/>
                <a:cs typeface="Calibri"/>
                <a:sym typeface="Calibri"/>
              </a:rPr>
              <a:t>Facultad de Ingeniería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2EAF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E2EAF4"/>
                </a:solidFill>
                <a:latin typeface="Calibri"/>
                <a:ea typeface="Calibri"/>
                <a:cs typeface="Calibri"/>
                <a:sym typeface="Calibri"/>
              </a:rPr>
              <a:t>Modelos y Simulación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2EAF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E2EAF4"/>
                </a:solidFill>
                <a:latin typeface="Calibri"/>
                <a:ea typeface="Calibri"/>
                <a:cs typeface="Calibri"/>
                <a:sym typeface="Calibri"/>
              </a:rPr>
              <a:t>UNAL Bogotá · 2026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7223760" y="1645920"/>
            <a:ext cx="91440" cy="91440"/>
          </a:xfrm>
          <a:prstGeom prst="ellipse">
            <a:avLst/>
          </a:prstGeom>
          <a:solidFill>
            <a:srgbClr val="0D7377"/>
          </a:solidFill>
          <a:ln cap="flat" cmpd="sng" w="12700">
            <a:solidFill>
              <a:srgbClr val="0D73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1"/>
          <p:cNvSpPr/>
          <p:nvPr/>
        </p:nvSpPr>
        <p:spPr>
          <a:xfrm>
            <a:off x="7360920" y="1609344"/>
            <a:ext cx="14173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Santiago A. Rodríguez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1"/>
          <p:cNvSpPr/>
          <p:nvPr/>
        </p:nvSpPr>
        <p:spPr>
          <a:xfrm>
            <a:off x="7223760" y="2304288"/>
            <a:ext cx="91440" cy="91440"/>
          </a:xfrm>
          <a:prstGeom prst="ellipse">
            <a:avLst/>
          </a:prstGeom>
          <a:solidFill>
            <a:srgbClr val="0D7377"/>
          </a:solidFill>
          <a:ln cap="flat" cmpd="sng" w="12700">
            <a:solidFill>
              <a:srgbClr val="0D73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1"/>
          <p:cNvSpPr/>
          <p:nvPr/>
        </p:nvSpPr>
        <p:spPr>
          <a:xfrm>
            <a:off x="7360920" y="2267712"/>
            <a:ext cx="14173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Martín A. Toro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1"/>
          <p:cNvSpPr/>
          <p:nvPr/>
        </p:nvSpPr>
        <p:spPr>
          <a:xfrm>
            <a:off x="7223760" y="2962656"/>
            <a:ext cx="91440" cy="91440"/>
          </a:xfrm>
          <a:prstGeom prst="ellipse">
            <a:avLst/>
          </a:prstGeom>
          <a:solidFill>
            <a:srgbClr val="0D7377"/>
          </a:solidFill>
          <a:ln cap="flat" cmpd="sng" w="12700">
            <a:solidFill>
              <a:srgbClr val="0D73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1"/>
          <p:cNvSpPr/>
          <p:nvPr/>
        </p:nvSpPr>
        <p:spPr>
          <a:xfrm>
            <a:off x="7360920" y="2926080"/>
            <a:ext cx="14173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Cristian F. Cubillos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1"/>
          <p:cNvSpPr/>
          <p:nvPr/>
        </p:nvSpPr>
        <p:spPr>
          <a:xfrm>
            <a:off x="7223760" y="3621024"/>
            <a:ext cx="91440" cy="91440"/>
          </a:xfrm>
          <a:prstGeom prst="ellipse">
            <a:avLst/>
          </a:prstGeom>
          <a:solidFill>
            <a:srgbClr val="0D7377"/>
          </a:solidFill>
          <a:ln cap="flat" cmpd="sng" w="12700">
            <a:solidFill>
              <a:srgbClr val="0D73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1"/>
          <p:cNvSpPr/>
          <p:nvPr/>
        </p:nvSpPr>
        <p:spPr>
          <a:xfrm>
            <a:off x="7360920" y="3584448"/>
            <a:ext cx="14173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Angie C. Sibaja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1"/>
          <p:cNvSpPr/>
          <p:nvPr/>
        </p:nvSpPr>
        <p:spPr>
          <a:xfrm>
            <a:off x="548640" y="4160520"/>
            <a:ext cx="2011680" cy="320040"/>
          </a:xfrm>
          <a:prstGeom prst="roundRect">
            <a:avLst>
              <a:gd fmla="val 14286" name="adj"/>
            </a:avLst>
          </a:prstGeom>
          <a:solidFill>
            <a:srgbClr val="0D7377"/>
          </a:solidFill>
          <a:ln cap="flat" cmpd="sng" w="12700">
            <a:solidFill>
              <a:srgbClr val="0D73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1"/>
          <p:cNvSpPr/>
          <p:nvPr/>
        </p:nvSpPr>
        <p:spPr>
          <a:xfrm>
            <a:off x="548640" y="4160520"/>
            <a:ext cx="2011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Validado con Claude Sonnet 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B"/>
        </a:solid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2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¿Cómo se usó la IA en el proyecto?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365760" y="960120"/>
            <a:ext cx="3931920" cy="38404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AF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2"/>
          <p:cNvSpPr/>
          <p:nvPr/>
        </p:nvSpPr>
        <p:spPr>
          <a:xfrm>
            <a:off x="365760" y="960120"/>
            <a:ext cx="3931920" cy="438912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2"/>
          <p:cNvSpPr/>
          <p:nvPr/>
        </p:nvSpPr>
        <p:spPr>
          <a:xfrm>
            <a:off x="365760" y="960120"/>
            <a:ext cx="39319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Herramienta y contexto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548640" y="1508760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Modelo utilizado: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548640" y="1783080"/>
            <a:ext cx="35661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Claude Sonnet 4 (Anthropic) — seleccionado por su capacidad de procesar documentos adjuntos, razonar sobre código Python y realizar investigación iterativa.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548640" y="2560320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Archivos suministrados al LLM: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548640" y="2880360"/>
            <a:ext cx="35661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📓  Jupyter Notebook con la simulación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548640" y="3310128"/>
            <a:ext cx="35661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📄  Documento Word con marco teórico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548640" y="3739896"/>
            <a:ext cx="35661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📊  Datos de campo (120 pacientes)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548640" y="4169664"/>
            <a:ext cx="35661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📋  Rúbrica de evaluación (PDF)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4572000" y="960120"/>
            <a:ext cx="4206240" cy="38404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AF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2"/>
          <p:cNvSpPr/>
          <p:nvPr/>
        </p:nvSpPr>
        <p:spPr>
          <a:xfrm>
            <a:off x="4572000" y="960120"/>
            <a:ext cx="4206240" cy="438912"/>
          </a:xfrm>
          <a:prstGeom prst="rect">
            <a:avLst/>
          </a:prstGeom>
          <a:solidFill>
            <a:srgbClr val="0D7377"/>
          </a:solidFill>
          <a:ln cap="flat" cmpd="sng" w="12700">
            <a:solidFill>
              <a:srgbClr val="0D73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2"/>
          <p:cNvSpPr/>
          <p:nvPr/>
        </p:nvSpPr>
        <p:spPr>
          <a:xfrm>
            <a:off x="4572000" y="960120"/>
            <a:ext cx="42062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Metodología del prompt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2"/>
          <p:cNvSpPr/>
          <p:nvPr/>
        </p:nvSpPr>
        <p:spPr>
          <a:xfrm>
            <a:off x="4709160" y="1536192"/>
            <a:ext cx="118872" cy="118872"/>
          </a:xfrm>
          <a:prstGeom prst="ellipse">
            <a:avLst/>
          </a:prstGeom>
          <a:solidFill>
            <a:srgbClr val="E8B84B"/>
          </a:solidFill>
          <a:ln cap="flat" cmpd="sng" w="12700">
            <a:solidFill>
              <a:srgbClr val="E8B8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2"/>
          <p:cNvSpPr/>
          <p:nvPr/>
        </p:nvSpPr>
        <p:spPr>
          <a:xfrm>
            <a:off x="4892040" y="1490472"/>
            <a:ext cx="3749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Objetivo claro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2"/>
          <p:cNvSpPr/>
          <p:nvPr/>
        </p:nvSpPr>
        <p:spPr>
          <a:xfrm>
            <a:off x="4892040" y="1737360"/>
            <a:ext cx="3749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Validar la simulación G/G/s y proponer mejoras con soporte estadístico.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2"/>
          <p:cNvSpPr/>
          <p:nvPr/>
        </p:nvSpPr>
        <p:spPr>
          <a:xfrm>
            <a:off x="4709160" y="2377440"/>
            <a:ext cx="118872" cy="118872"/>
          </a:xfrm>
          <a:prstGeom prst="ellipse">
            <a:avLst/>
          </a:prstGeom>
          <a:solidFill>
            <a:srgbClr val="E8B84B"/>
          </a:solidFill>
          <a:ln cap="flat" cmpd="sng" w="12700">
            <a:solidFill>
              <a:srgbClr val="E8B8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2"/>
          <p:cNvSpPr/>
          <p:nvPr/>
        </p:nvSpPr>
        <p:spPr>
          <a:xfrm>
            <a:off x="4892040" y="2331720"/>
            <a:ext cx="3749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5 iteraciones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2"/>
          <p:cNvSpPr/>
          <p:nvPr/>
        </p:nvSpPr>
        <p:spPr>
          <a:xfrm>
            <a:off x="4892040" y="2578608"/>
            <a:ext cx="3749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Cada prompt refinado con base en la respuesta anterior, avanzando de lo general a lo específico.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2"/>
          <p:cNvSpPr/>
          <p:nvPr/>
        </p:nvSpPr>
        <p:spPr>
          <a:xfrm>
            <a:off x="4709160" y="3218688"/>
            <a:ext cx="118872" cy="118872"/>
          </a:xfrm>
          <a:prstGeom prst="ellipse">
            <a:avLst/>
          </a:prstGeom>
          <a:solidFill>
            <a:srgbClr val="E8B84B"/>
          </a:solidFill>
          <a:ln cap="flat" cmpd="sng" w="12700">
            <a:solidFill>
              <a:srgbClr val="E8B8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2"/>
          <p:cNvSpPr/>
          <p:nvPr/>
        </p:nvSpPr>
        <p:spPr>
          <a:xfrm>
            <a:off x="4892040" y="3172968"/>
            <a:ext cx="3749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Restricciones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2"/>
          <p:cNvSpPr/>
          <p:nvPr/>
        </p:nvSpPr>
        <p:spPr>
          <a:xfrm>
            <a:off x="4892040" y="3419856"/>
            <a:ext cx="3749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No inventar datos, respetar parámetros MLE, responder en lenguaje técnico-académico.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2"/>
          <p:cNvSpPr/>
          <p:nvPr/>
        </p:nvSpPr>
        <p:spPr>
          <a:xfrm>
            <a:off x="4709160" y="4059936"/>
            <a:ext cx="118872" cy="118872"/>
          </a:xfrm>
          <a:prstGeom prst="ellipse">
            <a:avLst/>
          </a:prstGeom>
          <a:solidFill>
            <a:srgbClr val="E8B84B"/>
          </a:solidFill>
          <a:ln cap="flat" cmpd="sng" w="12700">
            <a:solidFill>
              <a:srgbClr val="E8B8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2"/>
          <p:cNvSpPr/>
          <p:nvPr/>
        </p:nvSpPr>
        <p:spPr>
          <a:xfrm>
            <a:off x="4892040" y="4014216"/>
            <a:ext cx="3749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Salida solicitada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2"/>
          <p:cNvSpPr/>
          <p:nvPr/>
        </p:nvSpPr>
        <p:spPr>
          <a:xfrm>
            <a:off x="4892040" y="4261104"/>
            <a:ext cx="3749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Análisis narrativo, tablas comparativas y código Python verificable.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B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3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3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Iteraciones con el LLM — Parte 1 (It. 1 a 3)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3"/>
          <p:cNvSpPr/>
          <p:nvPr/>
        </p:nvSpPr>
        <p:spPr>
          <a:xfrm>
            <a:off x="274320" y="960120"/>
            <a:ext cx="2788920" cy="38862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AF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3"/>
          <p:cNvSpPr/>
          <p:nvPr/>
        </p:nvSpPr>
        <p:spPr>
          <a:xfrm>
            <a:off x="274320" y="960120"/>
            <a:ext cx="2788920" cy="749808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3"/>
          <p:cNvSpPr/>
          <p:nvPr/>
        </p:nvSpPr>
        <p:spPr>
          <a:xfrm>
            <a:off x="274320" y="978408"/>
            <a:ext cx="2788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B84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E8B84B"/>
                </a:solidFill>
                <a:latin typeface="Calibri"/>
                <a:ea typeface="Calibri"/>
                <a:cs typeface="Calibri"/>
                <a:sym typeface="Calibri"/>
              </a:rPr>
              <a:t>It. 01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3"/>
          <p:cNvSpPr/>
          <p:nvPr/>
        </p:nvSpPr>
        <p:spPr>
          <a:xfrm>
            <a:off x="274320" y="1234440"/>
            <a:ext cx="27889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Marco teórico G/G/s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3"/>
          <p:cNvSpPr/>
          <p:nvPr/>
        </p:nvSpPr>
        <p:spPr>
          <a:xfrm>
            <a:off x="384048" y="1828800"/>
            <a:ext cx="2578608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Se solicitó investigar el estado del arte de colas G/G/s en farmacias y servicios de salud latinoamericanos.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3"/>
          <p:cNvSpPr/>
          <p:nvPr/>
        </p:nvSpPr>
        <p:spPr>
          <a:xfrm>
            <a:off x="384048" y="2606040"/>
            <a:ext cx="91440" cy="91440"/>
          </a:xfrm>
          <a:prstGeom prst="ellipse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3"/>
          <p:cNvSpPr/>
          <p:nvPr/>
        </p:nvSpPr>
        <p:spPr>
          <a:xfrm>
            <a:off x="521208" y="2551176"/>
            <a:ext cx="2441448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ρ entre 0.75–0.95 es típico en dispensación con 1 servidor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3"/>
          <p:cNvSpPr/>
          <p:nvPr/>
        </p:nvSpPr>
        <p:spPr>
          <a:xfrm>
            <a:off x="384048" y="3127248"/>
            <a:ext cx="91440" cy="91440"/>
          </a:xfrm>
          <a:prstGeom prst="ellipse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3"/>
          <p:cNvSpPr/>
          <p:nvPr/>
        </p:nvSpPr>
        <p:spPr>
          <a:xfrm>
            <a:off x="521208" y="3072384"/>
            <a:ext cx="2441448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ρ ≈ 0.92 del proyecto → zona de saturación severa (fórmula P-K)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3"/>
          <p:cNvSpPr/>
          <p:nvPr/>
        </p:nvSpPr>
        <p:spPr>
          <a:xfrm>
            <a:off x="384048" y="3648456"/>
            <a:ext cx="91440" cy="91440"/>
          </a:xfrm>
          <a:prstGeom prst="ellipse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3"/>
          <p:cNvSpPr/>
          <p:nvPr/>
        </p:nvSpPr>
        <p:spPr>
          <a:xfrm>
            <a:off x="521208" y="3593592"/>
            <a:ext cx="2441448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Distribución Gamma para llegadas: frecuente en entornos de salud con picos horarios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3"/>
          <p:cNvSpPr/>
          <p:nvPr/>
        </p:nvSpPr>
        <p:spPr>
          <a:xfrm>
            <a:off x="384048" y="4169664"/>
            <a:ext cx="91440" cy="91440"/>
          </a:xfrm>
          <a:prstGeom prst="ellipse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3"/>
          <p:cNvSpPr/>
          <p:nvPr/>
        </p:nvSpPr>
        <p:spPr>
          <a:xfrm>
            <a:off x="521208" y="4114800"/>
            <a:ext cx="2441448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Resultado: aval teórico del enfoque metodológico del grupo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3"/>
          <p:cNvSpPr/>
          <p:nvPr/>
        </p:nvSpPr>
        <p:spPr>
          <a:xfrm>
            <a:off x="3246120" y="960120"/>
            <a:ext cx="2788920" cy="38862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AF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3"/>
          <p:cNvSpPr/>
          <p:nvPr/>
        </p:nvSpPr>
        <p:spPr>
          <a:xfrm>
            <a:off x="3246120" y="960120"/>
            <a:ext cx="2788920" cy="749808"/>
          </a:xfrm>
          <a:prstGeom prst="rect">
            <a:avLst/>
          </a:prstGeom>
          <a:solidFill>
            <a:srgbClr val="0D7377"/>
          </a:solidFill>
          <a:ln cap="flat" cmpd="sng" w="12700">
            <a:solidFill>
              <a:srgbClr val="0D73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3"/>
          <p:cNvSpPr/>
          <p:nvPr/>
        </p:nvSpPr>
        <p:spPr>
          <a:xfrm>
            <a:off x="3246120" y="978408"/>
            <a:ext cx="2788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B84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E8B84B"/>
                </a:solidFill>
                <a:latin typeface="Calibri"/>
                <a:ea typeface="Calibri"/>
                <a:cs typeface="Calibri"/>
                <a:sym typeface="Calibri"/>
              </a:rPr>
              <a:t>It. 02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3"/>
          <p:cNvSpPr/>
          <p:nvPr/>
        </p:nvSpPr>
        <p:spPr>
          <a:xfrm>
            <a:off x="3246120" y="1234440"/>
            <a:ext cx="27889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Validación MLE y prueba KS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3"/>
          <p:cNvSpPr/>
          <p:nvPr/>
        </p:nvSpPr>
        <p:spPr>
          <a:xfrm>
            <a:off x="3355848" y="1828800"/>
            <a:ext cx="2578608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Se pidió verificar la coherencia de los parámetros Gamma (α=0.349, scale=16.78) y Weibull (c=1.852, scale=5.627).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3"/>
          <p:cNvSpPr/>
          <p:nvPr/>
        </p:nvSpPr>
        <p:spPr>
          <a:xfrm>
            <a:off x="3355848" y="2606040"/>
            <a:ext cx="91440" cy="91440"/>
          </a:xfrm>
          <a:prstGeom prst="ellipse">
            <a:avLst/>
          </a:prstGeom>
          <a:solidFill>
            <a:srgbClr val="0D7377"/>
          </a:solidFill>
          <a:ln cap="flat" cmpd="sng" w="12700">
            <a:solidFill>
              <a:srgbClr val="0D73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3"/>
          <p:cNvSpPr/>
          <p:nvPr/>
        </p:nvSpPr>
        <p:spPr>
          <a:xfrm>
            <a:off x="3493008" y="2551176"/>
            <a:ext cx="2441448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E[Gamma] ≈ 5.86 min (TEL) y E[Weibull] ≈ 5.11 min (TS) — coherentes con datos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3"/>
          <p:cNvSpPr/>
          <p:nvPr/>
        </p:nvSpPr>
        <p:spPr>
          <a:xfrm>
            <a:off x="3355848" y="3127248"/>
            <a:ext cx="91440" cy="91440"/>
          </a:xfrm>
          <a:prstGeom prst="ellipse">
            <a:avLst/>
          </a:prstGeom>
          <a:solidFill>
            <a:srgbClr val="0D7377"/>
          </a:solidFill>
          <a:ln cap="flat" cmpd="sng" w="12700">
            <a:solidFill>
              <a:srgbClr val="0D73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3"/>
          <p:cNvSpPr/>
          <p:nvPr/>
        </p:nvSpPr>
        <p:spPr>
          <a:xfrm>
            <a:off x="3493008" y="3072384"/>
            <a:ext cx="2441448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p &lt; 0.05 en TEL no invalida la Gamma; refleja heterogeneidad del flujo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3"/>
          <p:cNvSpPr/>
          <p:nvPr/>
        </p:nvSpPr>
        <p:spPr>
          <a:xfrm>
            <a:off x="3355848" y="3648456"/>
            <a:ext cx="91440" cy="91440"/>
          </a:xfrm>
          <a:prstGeom prst="ellipse">
            <a:avLst/>
          </a:prstGeom>
          <a:solidFill>
            <a:srgbClr val="0D7377"/>
          </a:solidFill>
          <a:ln cap="flat" cmpd="sng" w="12700">
            <a:solidFill>
              <a:srgbClr val="0D73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3"/>
          <p:cNvSpPr/>
          <p:nvPr/>
        </p:nvSpPr>
        <p:spPr>
          <a:xfrm>
            <a:off x="3493008" y="3593592"/>
            <a:ext cx="2441448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loc = 0.28 en la Gamma es correcto preservarlo (pequeño desplazamiento)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3"/>
          <p:cNvSpPr/>
          <p:nvPr/>
        </p:nvSpPr>
        <p:spPr>
          <a:xfrm>
            <a:off x="3355848" y="4169664"/>
            <a:ext cx="91440" cy="91440"/>
          </a:xfrm>
          <a:prstGeom prst="ellipse">
            <a:avLst/>
          </a:prstGeom>
          <a:solidFill>
            <a:srgbClr val="0D7377"/>
          </a:solidFill>
          <a:ln cap="flat" cmpd="sng" w="12700">
            <a:solidFill>
              <a:srgbClr val="0D73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3"/>
          <p:cNvSpPr/>
          <p:nvPr/>
        </p:nvSpPr>
        <p:spPr>
          <a:xfrm>
            <a:off x="3493008" y="4114800"/>
            <a:ext cx="2441448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Resultado: parámetros MLE validados sin cambios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3"/>
          <p:cNvSpPr/>
          <p:nvPr/>
        </p:nvSpPr>
        <p:spPr>
          <a:xfrm>
            <a:off x="6217920" y="960120"/>
            <a:ext cx="2788920" cy="38862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AF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3"/>
          <p:cNvSpPr/>
          <p:nvPr/>
        </p:nvSpPr>
        <p:spPr>
          <a:xfrm>
            <a:off x="6217920" y="960120"/>
            <a:ext cx="2788920" cy="749808"/>
          </a:xfrm>
          <a:prstGeom prst="rect">
            <a:avLst/>
          </a:prstGeom>
          <a:solidFill>
            <a:srgbClr val="1A5C8A"/>
          </a:solidFill>
          <a:ln cap="flat" cmpd="sng" w="12700">
            <a:solidFill>
              <a:srgbClr val="1A5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3"/>
          <p:cNvSpPr/>
          <p:nvPr/>
        </p:nvSpPr>
        <p:spPr>
          <a:xfrm>
            <a:off x="6217920" y="978408"/>
            <a:ext cx="2788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B84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E8B84B"/>
                </a:solidFill>
                <a:latin typeface="Calibri"/>
                <a:ea typeface="Calibri"/>
                <a:cs typeface="Calibri"/>
                <a:sym typeface="Calibri"/>
              </a:rPr>
              <a:t>It. 03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3"/>
          <p:cNvSpPr/>
          <p:nvPr/>
        </p:nvSpPr>
        <p:spPr>
          <a:xfrm>
            <a:off x="6217920" y="1234440"/>
            <a:ext cx="27889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Revisión del código Python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3"/>
          <p:cNvSpPr/>
          <p:nvPr/>
        </p:nvSpPr>
        <p:spPr>
          <a:xfrm>
            <a:off x="6327648" y="1828800"/>
            <a:ext cx="2578608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Se solicitó identificar errores lógicos o mejoras en el algoritmo FIFO multi-servidor del notebook.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3"/>
          <p:cNvSpPr/>
          <p:nvPr/>
        </p:nvSpPr>
        <p:spPr>
          <a:xfrm>
            <a:off x="6327648" y="2606040"/>
            <a:ext cx="91440" cy="91440"/>
          </a:xfrm>
          <a:prstGeom prst="ellipse">
            <a:avLst/>
          </a:prstGeom>
          <a:solidFill>
            <a:srgbClr val="1A5C8A"/>
          </a:solidFill>
          <a:ln cap="flat" cmpd="sng" w="12700">
            <a:solidFill>
              <a:srgbClr val="1A5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3"/>
          <p:cNvSpPr/>
          <p:nvPr/>
        </p:nvSpPr>
        <p:spPr>
          <a:xfrm>
            <a:off x="6464808" y="2551176"/>
            <a:ext cx="2441448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np.random.uniform(0.1, 2.0) para Wq=0 introduce ruido → usar percentil 5 de TEL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3"/>
          <p:cNvSpPr/>
          <p:nvPr/>
        </p:nvSpPr>
        <p:spPr>
          <a:xfrm>
            <a:off x="6327648" y="3127248"/>
            <a:ext cx="91440" cy="91440"/>
          </a:xfrm>
          <a:prstGeom prst="ellipse">
            <a:avLst/>
          </a:prstGeom>
          <a:solidFill>
            <a:srgbClr val="1A5C8A"/>
          </a:solidFill>
          <a:ln cap="flat" cmpd="sng" w="12700">
            <a:solidFill>
              <a:srgbClr val="1A5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3"/>
          <p:cNvSpPr/>
          <p:nvPr/>
        </p:nvSpPr>
        <p:spPr>
          <a:xfrm>
            <a:off x="6464808" y="3072384"/>
            <a:ext cx="2441448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np.random.seed(42) debe ir dentro del loop (reproducibilidad por réplica)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3"/>
          <p:cNvSpPr/>
          <p:nvPr/>
        </p:nvSpPr>
        <p:spPr>
          <a:xfrm>
            <a:off x="6327648" y="3648456"/>
            <a:ext cx="91440" cy="91440"/>
          </a:xfrm>
          <a:prstGeom prst="ellipse">
            <a:avLst/>
          </a:prstGeom>
          <a:solidFill>
            <a:srgbClr val="1A5C8A"/>
          </a:solidFill>
          <a:ln cap="flat" cmpd="sng" w="12700">
            <a:solidFill>
              <a:srgbClr val="1A5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3"/>
          <p:cNvSpPr/>
          <p:nvPr/>
        </p:nvSpPr>
        <p:spPr>
          <a:xfrm>
            <a:off x="6464808" y="3593592"/>
            <a:ext cx="2441448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Lógica argmin sobre T_libre_srv: correcta para 2 servidores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3"/>
          <p:cNvSpPr/>
          <p:nvPr/>
        </p:nvSpPr>
        <p:spPr>
          <a:xfrm>
            <a:off x="6327648" y="4169664"/>
            <a:ext cx="91440" cy="91440"/>
          </a:xfrm>
          <a:prstGeom prst="ellipse">
            <a:avLst/>
          </a:prstGeom>
          <a:solidFill>
            <a:srgbClr val="1A5C8A"/>
          </a:solidFill>
          <a:ln cap="flat" cmpd="sng" w="12700">
            <a:solidFill>
              <a:srgbClr val="1A5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3"/>
          <p:cNvSpPr/>
          <p:nvPr/>
        </p:nvSpPr>
        <p:spPr>
          <a:xfrm>
            <a:off x="6464808" y="4114800"/>
            <a:ext cx="2441448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Resultado: cambios implementados, variación &lt; 0.3% (robustez confirmada)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B"/>
        </a:soli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4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4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Iteraciones con el LLM — Parte 2 (It. 4 y 5)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4"/>
          <p:cNvSpPr/>
          <p:nvPr/>
        </p:nvSpPr>
        <p:spPr>
          <a:xfrm>
            <a:off x="365760" y="960120"/>
            <a:ext cx="4114800" cy="38862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AF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4"/>
          <p:cNvSpPr/>
          <p:nvPr/>
        </p:nvSpPr>
        <p:spPr>
          <a:xfrm>
            <a:off x="365760" y="960120"/>
            <a:ext cx="4114800" cy="685800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4"/>
          <p:cNvSpPr/>
          <p:nvPr/>
        </p:nvSpPr>
        <p:spPr>
          <a:xfrm>
            <a:off x="365760" y="978408"/>
            <a:ext cx="41148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B84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E8B84B"/>
                </a:solidFill>
                <a:latin typeface="Calibri"/>
                <a:ea typeface="Calibri"/>
                <a:cs typeface="Calibri"/>
                <a:sym typeface="Calibri"/>
              </a:rPr>
              <a:t>It. 04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4"/>
          <p:cNvSpPr/>
          <p:nvPr/>
        </p:nvSpPr>
        <p:spPr>
          <a:xfrm>
            <a:off x="365760" y="1216152"/>
            <a:ext cx="41148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Verificación M/M/s vs G/G/s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4"/>
          <p:cNvSpPr/>
          <p:nvPr/>
        </p:nvSpPr>
        <p:spPr>
          <a:xfrm>
            <a:off x="502920" y="1737360"/>
            <a:ext cx="3840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Cálculo de Wq analítico con M/M/1 y M/M/2 (λ=0.167 pac/min, μ=1/6 pac/min) para comparar con la simulación G/G/s.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24" name="Google Shape;124;p4"/>
          <p:cNvGraphicFramePr/>
          <p:nvPr/>
        </p:nvGraphicFramePr>
        <p:xfrm>
          <a:off x="411480" y="24688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{38C37BCB-706B-4554-AACD-4653A4BFAE51}</a:tableStyleId>
              </a:tblPr>
              <a:tblGrid>
                <a:gridCol w="1005850"/>
                <a:gridCol w="731525"/>
                <a:gridCol w="731525"/>
                <a:gridCol w="777250"/>
                <a:gridCol w="777250"/>
              </a:tblGrid>
              <a:tr h="2743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Métrica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E2EAF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AF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AF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AF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M/M/1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E2EAF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AF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AF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AF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M/M/2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E2EAF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AF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AF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AF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G/G/1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E2EAF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AF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AF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AF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737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G/G/2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E2EAF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AF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AF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AF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7377"/>
                    </a:solidFill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A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1B2A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Wq (min)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E2EAF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AF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AF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AF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392B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C039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∞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E2EAF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AF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AF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AF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4748B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64748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1.33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E2EAF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AF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AF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AF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392B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C039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68.15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E2EAF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AF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AF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AF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7377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0D737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4.11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E2EAF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AF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AF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AF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B"/>
                    </a:solidFill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A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1B2A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ρ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E2EAF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AF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AF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AF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4748B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64748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91.7%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E2EAF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AF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AF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AF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4748B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64748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45.8%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E2EAF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AF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AF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AF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4748B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64748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91.7%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E2EAF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AF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AF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AF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4748B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64748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50.0%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E2EAF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AF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AF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AF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  <p:sp>
        <p:nvSpPr>
          <p:cNvPr id="125" name="Google Shape;125;p4"/>
          <p:cNvSpPr/>
          <p:nvPr/>
        </p:nvSpPr>
        <p:spPr>
          <a:xfrm>
            <a:off x="502920" y="3429000"/>
            <a:ext cx="38404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La diferencia G/G vs M/M es esperada y correctamente explicada por la mayor variabilidad de Gamma/Weibull. Los resultados simulados son más conservadores y útiles para toma de decisiones.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4"/>
          <p:cNvSpPr/>
          <p:nvPr/>
        </p:nvSpPr>
        <p:spPr>
          <a:xfrm>
            <a:off x="411480" y="4224528"/>
            <a:ext cx="3931920" cy="457200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4"/>
          <p:cNvSpPr/>
          <p:nvPr/>
        </p:nvSpPr>
        <p:spPr>
          <a:xfrm>
            <a:off x="411480" y="4224528"/>
            <a:ext cx="3931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B84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E8B84B"/>
                </a:solidFill>
                <a:latin typeface="Calibri"/>
                <a:ea typeface="Calibri"/>
                <a:cs typeface="Calibri"/>
                <a:sym typeface="Calibri"/>
              </a:rPr>
              <a:t>✓  Alta calidad metodológica confirmada por el LLM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4"/>
          <p:cNvSpPr/>
          <p:nvPr/>
        </p:nvSpPr>
        <p:spPr>
          <a:xfrm>
            <a:off x="4663440" y="960120"/>
            <a:ext cx="4114800" cy="38862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AF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4"/>
          <p:cNvSpPr/>
          <p:nvPr/>
        </p:nvSpPr>
        <p:spPr>
          <a:xfrm>
            <a:off x="4663440" y="960120"/>
            <a:ext cx="4114800" cy="685800"/>
          </a:xfrm>
          <a:prstGeom prst="rect">
            <a:avLst/>
          </a:prstGeom>
          <a:solidFill>
            <a:srgbClr val="1A7F3C"/>
          </a:solidFill>
          <a:ln cap="flat" cmpd="sng" w="12700">
            <a:solidFill>
              <a:srgbClr val="1A7F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4"/>
          <p:cNvSpPr/>
          <p:nvPr/>
        </p:nvSpPr>
        <p:spPr>
          <a:xfrm>
            <a:off x="4663440" y="978408"/>
            <a:ext cx="41148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B84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E8B84B"/>
                </a:solidFill>
                <a:latin typeface="Calibri"/>
                <a:ea typeface="Calibri"/>
                <a:cs typeface="Calibri"/>
                <a:sym typeface="Calibri"/>
              </a:rPr>
              <a:t>It. 05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4"/>
          <p:cNvSpPr/>
          <p:nvPr/>
        </p:nvSpPr>
        <p:spPr>
          <a:xfrm>
            <a:off x="4663440" y="1216152"/>
            <a:ext cx="41148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Propuesta: Triaje Digital + 2 Ventanillas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4"/>
          <p:cNvSpPr/>
          <p:nvPr/>
        </p:nvSpPr>
        <p:spPr>
          <a:xfrm>
            <a:off x="4800600" y="1737360"/>
            <a:ext cx="38404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El LLM propuso un tercer escenario con un sistema de turnos digitales y un dashboard de saturación en tiempo real.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4"/>
          <p:cNvSpPr/>
          <p:nvPr/>
        </p:nvSpPr>
        <p:spPr>
          <a:xfrm>
            <a:off x="4800600" y="2395728"/>
            <a:ext cx="118872" cy="118872"/>
          </a:xfrm>
          <a:prstGeom prst="ellipse">
            <a:avLst/>
          </a:prstGeom>
          <a:solidFill>
            <a:srgbClr val="1A7F3C"/>
          </a:solidFill>
          <a:ln cap="flat" cmpd="sng" w="12700">
            <a:solidFill>
              <a:srgbClr val="1A7F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4"/>
          <p:cNvSpPr/>
          <p:nvPr/>
        </p:nvSpPr>
        <p:spPr>
          <a:xfrm>
            <a:off x="4983480" y="2350008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¿Cómo funciona?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4"/>
          <p:cNvSpPr/>
          <p:nvPr/>
        </p:nvSpPr>
        <p:spPr>
          <a:xfrm>
            <a:off x="4983480" y="2596896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App/tótem clasifica al paciente por tipo de turno (PBS, No PBS, Comercial, Preferencial) antes de llegar a ventanilla, reduciendo validación inicial ~1.5 min/paciente.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4"/>
          <p:cNvSpPr/>
          <p:nvPr/>
        </p:nvSpPr>
        <p:spPr>
          <a:xfrm>
            <a:off x="4800600" y="3200400"/>
            <a:ext cx="118872" cy="118872"/>
          </a:xfrm>
          <a:prstGeom prst="ellipse">
            <a:avLst/>
          </a:prstGeom>
          <a:solidFill>
            <a:srgbClr val="1A7F3C"/>
          </a:solidFill>
          <a:ln cap="flat" cmpd="sng" w="12700">
            <a:solidFill>
              <a:srgbClr val="1A7F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4"/>
          <p:cNvSpPr/>
          <p:nvPr/>
        </p:nvSpPr>
        <p:spPr>
          <a:xfrm>
            <a:off x="4983480" y="3154680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Dashboard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4"/>
          <p:cNvSpPr/>
          <p:nvPr/>
        </p:nvSpPr>
        <p:spPr>
          <a:xfrm>
            <a:off x="4983480" y="3401568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Activa ventanilla adicional cuando la cola supera 5 pacientes en tiempo real.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4"/>
          <p:cNvSpPr/>
          <p:nvPr/>
        </p:nvSpPr>
        <p:spPr>
          <a:xfrm>
            <a:off x="4800600" y="4005072"/>
            <a:ext cx="118872" cy="118872"/>
          </a:xfrm>
          <a:prstGeom prst="ellipse">
            <a:avLst/>
          </a:prstGeom>
          <a:solidFill>
            <a:srgbClr val="1A7F3C"/>
          </a:solidFill>
          <a:ln cap="flat" cmpd="sng" w="12700">
            <a:solidFill>
              <a:srgbClr val="1A7F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4"/>
          <p:cNvSpPr/>
          <p:nvPr/>
        </p:nvSpPr>
        <p:spPr>
          <a:xfrm>
            <a:off x="4983480" y="3959352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Impacto estimado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4"/>
          <p:cNvSpPr/>
          <p:nvPr/>
        </p:nvSpPr>
        <p:spPr>
          <a:xfrm>
            <a:off x="4983480" y="4206240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TS baja de 6.0 a 4.5 min (−25%). Con 2 servidores: ρ = 0.375 → Wq &lt; 0.5 min analítico.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4"/>
          <p:cNvSpPr/>
          <p:nvPr/>
        </p:nvSpPr>
        <p:spPr>
          <a:xfrm>
            <a:off x="4709160" y="4224528"/>
            <a:ext cx="3931920" cy="457200"/>
          </a:xfrm>
          <a:prstGeom prst="rect">
            <a:avLst/>
          </a:prstGeom>
          <a:solidFill>
            <a:srgbClr val="1A7F3C"/>
          </a:solidFill>
          <a:ln cap="flat" cmpd="sng" w="12700">
            <a:solidFill>
              <a:srgbClr val="1A7F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4"/>
          <p:cNvSpPr/>
          <p:nvPr/>
        </p:nvSpPr>
        <p:spPr>
          <a:xfrm>
            <a:off x="4709160" y="4224528"/>
            <a:ext cx="3931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Wq &lt; 0.5 min  ·  Escenario ÓPTIMO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2A4A"/>
        </a:soli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5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7377"/>
          </a:solidFill>
          <a:ln cap="flat" cmpd="sng" w="12700">
            <a:solidFill>
              <a:srgbClr val="0D73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5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Conclusiones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5"/>
          <p:cNvSpPr/>
          <p:nvPr/>
        </p:nvSpPr>
        <p:spPr>
          <a:xfrm>
            <a:off x="365760" y="960120"/>
            <a:ext cx="4114800" cy="3886200"/>
          </a:xfrm>
          <a:prstGeom prst="rect">
            <a:avLst/>
          </a:prstGeom>
          <a:solidFill>
            <a:srgbClr val="112238"/>
          </a:solidFill>
          <a:ln cap="flat" cmpd="sng" w="12700">
            <a:solidFill>
              <a:srgbClr val="0D737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5"/>
          <p:cNvSpPr/>
          <p:nvPr/>
        </p:nvSpPr>
        <p:spPr>
          <a:xfrm>
            <a:off x="365760" y="960120"/>
            <a:ext cx="4114800" cy="457200"/>
          </a:xfrm>
          <a:prstGeom prst="rect">
            <a:avLst/>
          </a:prstGeom>
          <a:solidFill>
            <a:srgbClr val="0D7377"/>
          </a:solidFill>
          <a:ln cap="flat" cmpd="sng" w="12700">
            <a:solidFill>
              <a:srgbClr val="0D73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5"/>
          <p:cNvSpPr/>
          <p:nvPr/>
        </p:nvSpPr>
        <p:spPr>
          <a:xfrm>
            <a:off x="365760" y="960120"/>
            <a:ext cx="4114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Del proyecto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5"/>
          <p:cNvSpPr/>
          <p:nvPr/>
        </p:nvSpPr>
        <p:spPr>
          <a:xfrm>
            <a:off x="548640" y="1581912"/>
            <a:ext cx="118872" cy="118872"/>
          </a:xfrm>
          <a:prstGeom prst="ellipse">
            <a:avLst/>
          </a:prstGeom>
          <a:solidFill>
            <a:srgbClr val="E8B84B"/>
          </a:solidFill>
          <a:ln cap="flat" cmpd="sng" w="12700">
            <a:solidFill>
              <a:srgbClr val="E8B8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5"/>
          <p:cNvSpPr/>
          <p:nvPr/>
        </p:nvSpPr>
        <p:spPr>
          <a:xfrm>
            <a:off x="749808" y="1527048"/>
            <a:ext cx="356616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AF4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E2EAF4"/>
                </a:solidFill>
                <a:latin typeface="Calibri"/>
                <a:ea typeface="Calibri"/>
                <a:cs typeface="Calibri"/>
                <a:sym typeface="Calibri"/>
              </a:rPr>
              <a:t>ρ ≈ 0.92 confirma saturación severa con 1 sola ventanilla activa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5"/>
          <p:cNvSpPr/>
          <p:nvPr/>
        </p:nvSpPr>
        <p:spPr>
          <a:xfrm>
            <a:off x="548640" y="2368296"/>
            <a:ext cx="118872" cy="118872"/>
          </a:xfrm>
          <a:prstGeom prst="ellipse">
            <a:avLst/>
          </a:prstGeom>
          <a:solidFill>
            <a:srgbClr val="E8B84B"/>
          </a:solidFill>
          <a:ln cap="flat" cmpd="sng" w="12700">
            <a:solidFill>
              <a:srgbClr val="E8B8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5"/>
          <p:cNvSpPr/>
          <p:nvPr/>
        </p:nvSpPr>
        <p:spPr>
          <a:xfrm>
            <a:off x="749808" y="2313432"/>
            <a:ext cx="356616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AF4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E2EAF4"/>
                </a:solidFill>
                <a:latin typeface="Calibri"/>
                <a:ea typeface="Calibri"/>
                <a:cs typeface="Calibri"/>
                <a:sym typeface="Calibri"/>
              </a:rPr>
              <a:t>2 servidores reduce Wq un 94%: de 68 min a solo 4.1 min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5"/>
          <p:cNvSpPr/>
          <p:nvPr/>
        </p:nvSpPr>
        <p:spPr>
          <a:xfrm>
            <a:off x="548640" y="3154680"/>
            <a:ext cx="118872" cy="118872"/>
          </a:xfrm>
          <a:prstGeom prst="ellipse">
            <a:avLst/>
          </a:prstGeom>
          <a:solidFill>
            <a:srgbClr val="E8B84B"/>
          </a:solidFill>
          <a:ln cap="flat" cmpd="sng" w="12700">
            <a:solidFill>
              <a:srgbClr val="E8B8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5"/>
          <p:cNvSpPr/>
          <p:nvPr/>
        </p:nvSpPr>
        <p:spPr>
          <a:xfrm>
            <a:off x="749808" y="3099816"/>
            <a:ext cx="356616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AF4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E2EAF4"/>
                </a:solidFill>
                <a:latin typeface="Calibri"/>
                <a:ea typeface="Calibri"/>
                <a:cs typeface="Calibri"/>
                <a:sym typeface="Calibri"/>
              </a:rPr>
              <a:t>Triaje digital proyecta Wq &lt; 0.5 min — solución óptima combinada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5"/>
          <p:cNvSpPr/>
          <p:nvPr/>
        </p:nvSpPr>
        <p:spPr>
          <a:xfrm>
            <a:off x="4846320" y="960120"/>
            <a:ext cx="4114800" cy="3886200"/>
          </a:xfrm>
          <a:prstGeom prst="rect">
            <a:avLst/>
          </a:prstGeom>
          <a:solidFill>
            <a:srgbClr val="112238"/>
          </a:solidFill>
          <a:ln cap="flat" cmpd="sng" w="12700">
            <a:solidFill>
              <a:srgbClr val="1A5C8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5"/>
          <p:cNvSpPr/>
          <p:nvPr/>
        </p:nvSpPr>
        <p:spPr>
          <a:xfrm>
            <a:off x="4846320" y="960120"/>
            <a:ext cx="4114800" cy="457200"/>
          </a:xfrm>
          <a:prstGeom prst="rect">
            <a:avLst/>
          </a:prstGeom>
          <a:solidFill>
            <a:srgbClr val="1A5C8A"/>
          </a:solidFill>
          <a:ln cap="flat" cmpd="sng" w="12700">
            <a:solidFill>
              <a:srgbClr val="1A5C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5"/>
          <p:cNvSpPr/>
          <p:nvPr/>
        </p:nvSpPr>
        <p:spPr>
          <a:xfrm>
            <a:off x="4846320" y="960120"/>
            <a:ext cx="4114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Del ejercicio con IA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5"/>
          <p:cNvSpPr/>
          <p:nvPr/>
        </p:nvSpPr>
        <p:spPr>
          <a:xfrm>
            <a:off x="5029200" y="1581912"/>
            <a:ext cx="118872" cy="118872"/>
          </a:xfrm>
          <a:prstGeom prst="ellipse">
            <a:avLst/>
          </a:prstGeom>
          <a:solidFill>
            <a:srgbClr val="E8B84B"/>
          </a:solidFill>
          <a:ln cap="flat" cmpd="sng" w="12700">
            <a:solidFill>
              <a:srgbClr val="E8B8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5"/>
          <p:cNvSpPr/>
          <p:nvPr/>
        </p:nvSpPr>
        <p:spPr>
          <a:xfrm>
            <a:off x="5230368" y="1527048"/>
            <a:ext cx="356616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AF4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E2EAF4"/>
                </a:solidFill>
                <a:latin typeface="Calibri"/>
                <a:ea typeface="Calibri"/>
                <a:cs typeface="Calibri"/>
                <a:sym typeface="Calibri"/>
              </a:rPr>
              <a:t>Prompts detallados con archivos adjuntos → análisis técnicamente precisos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5"/>
          <p:cNvSpPr/>
          <p:nvPr/>
        </p:nvSpPr>
        <p:spPr>
          <a:xfrm>
            <a:off x="5029200" y="2368296"/>
            <a:ext cx="118872" cy="118872"/>
          </a:xfrm>
          <a:prstGeom prst="ellipse">
            <a:avLst/>
          </a:prstGeom>
          <a:solidFill>
            <a:srgbClr val="E8B84B"/>
          </a:solidFill>
          <a:ln cap="flat" cmpd="sng" w="12700">
            <a:solidFill>
              <a:srgbClr val="E8B8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5"/>
          <p:cNvSpPr/>
          <p:nvPr/>
        </p:nvSpPr>
        <p:spPr>
          <a:xfrm>
            <a:off x="5230368" y="2313432"/>
            <a:ext cx="356616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AF4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E2EAF4"/>
                </a:solidFill>
                <a:latin typeface="Calibri"/>
                <a:ea typeface="Calibri"/>
                <a:cs typeface="Calibri"/>
                <a:sym typeface="Calibri"/>
              </a:rPr>
              <a:t>El LLM detectó mejoras en el código y aportó perspectiva teórica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5"/>
          <p:cNvSpPr/>
          <p:nvPr/>
        </p:nvSpPr>
        <p:spPr>
          <a:xfrm>
            <a:off x="5029200" y="3154680"/>
            <a:ext cx="118872" cy="118872"/>
          </a:xfrm>
          <a:prstGeom prst="ellipse">
            <a:avLst/>
          </a:prstGeom>
          <a:solidFill>
            <a:srgbClr val="E8B84B"/>
          </a:solidFill>
          <a:ln cap="flat" cmpd="sng" w="12700">
            <a:solidFill>
              <a:srgbClr val="E8B8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5"/>
          <p:cNvSpPr/>
          <p:nvPr/>
        </p:nvSpPr>
        <p:spPr>
          <a:xfrm>
            <a:off x="5230368" y="3099816"/>
            <a:ext cx="356616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AF4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E2EAF4"/>
                </a:solidFill>
                <a:latin typeface="Calibri"/>
                <a:ea typeface="Calibri"/>
                <a:cs typeface="Calibri"/>
                <a:sym typeface="Calibri"/>
              </a:rPr>
              <a:t>Supervisión crítica necesaria: M/M/s ≠ G/G/s, diferencia esperada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5"/>
          <p:cNvSpPr/>
          <p:nvPr/>
        </p:nvSpPr>
        <p:spPr>
          <a:xfrm>
            <a:off x="5029200" y="3941064"/>
            <a:ext cx="118872" cy="118872"/>
          </a:xfrm>
          <a:prstGeom prst="ellipse">
            <a:avLst/>
          </a:prstGeom>
          <a:solidFill>
            <a:srgbClr val="E8B84B"/>
          </a:solidFill>
          <a:ln cap="flat" cmpd="sng" w="12700">
            <a:solidFill>
              <a:srgbClr val="E8B8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5"/>
          <p:cNvSpPr/>
          <p:nvPr/>
        </p:nvSpPr>
        <p:spPr>
          <a:xfrm>
            <a:off x="5230368" y="3886200"/>
            <a:ext cx="356616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AF4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E2EAF4"/>
                </a:solidFill>
                <a:latin typeface="Calibri"/>
                <a:ea typeface="Calibri"/>
                <a:cs typeface="Calibri"/>
                <a:sym typeface="Calibri"/>
              </a:rPr>
              <a:t>IA como copiloto, no reemplazo del modelador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B2D"/>
        </a:solid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6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E8B84B"/>
          </a:solidFill>
          <a:ln cap="flat" cmpd="sng" w="12700">
            <a:solidFill>
              <a:srgbClr val="E8B8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6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0D7377"/>
          </a:solidFill>
          <a:ln cap="flat" cmpd="sng" w="12700">
            <a:solidFill>
              <a:srgbClr val="0D73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6"/>
          <p:cNvSpPr/>
          <p:nvPr/>
        </p:nvSpPr>
        <p:spPr>
          <a:xfrm>
            <a:off x="548640" y="1097280"/>
            <a:ext cx="80467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¡Gracias por su atención!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6"/>
          <p:cNvSpPr/>
          <p:nvPr/>
        </p:nvSpPr>
        <p:spPr>
          <a:xfrm>
            <a:off x="548640" y="2286000"/>
            <a:ext cx="8046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B84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E8B84B"/>
                </a:solidFill>
                <a:latin typeface="Calibri"/>
                <a:ea typeface="Calibri"/>
                <a:cs typeface="Calibri"/>
                <a:sym typeface="Calibri"/>
              </a:rPr>
              <a:t>IA Generativa aplicada a Simulación · Grupo 7 · UNAL 2026-1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6"/>
          <p:cNvSpPr/>
          <p:nvPr/>
        </p:nvSpPr>
        <p:spPr>
          <a:xfrm>
            <a:off x="548640" y="2834640"/>
            <a:ext cx="8046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Santiago Rodríguez · Martín Toro · Cristian Cubillos · Angie Sibaja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6"/>
          <p:cNvSpPr/>
          <p:nvPr/>
        </p:nvSpPr>
        <p:spPr>
          <a:xfrm>
            <a:off x="548640" y="4480560"/>
            <a:ext cx="8046720" cy="6629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Modelos y Simulación · Facultad de Ingeniería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2026-06-03T19:53:54Z</dcterms:created>
  <dc:creator>PptxGenJS</dc:creator>
</cp:coreProperties>
</file>